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nuHO/VntUVgS0utJdueXMBxWb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La forma potete cambiarla serenamente o aggiungere una slide se vi sembra troppo denso. Detto ciò potete anche dirlo a voce, easy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Uno schemino con excalidraw, uno screen della dashboard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Oggi avete fatto uno step, quale sarebbe il vostro GANTT se si volesse approfondire il vostro progetto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Utopico che abbiate una stima così concreta, però datemi un’idea dell’impatto sul vostro business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12573000" y="495300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1333500" y="533400"/>
            <a:ext cx="376749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Ideathon · AITHO GenAI Academy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29959" y="495300"/>
            <a:ext cx="1607457" cy="4860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333500" y="2942272"/>
            <a:ext cx="900113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FEFF"/>
                </a:solidFill>
                <a:latin typeface="Arial"/>
                <a:ea typeface="Arial"/>
                <a:cs typeface="Arial"/>
                <a:sym typeface="Arial"/>
              </a:rPr>
              <a:t>PITCH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328863" y="2942272"/>
            <a:ext cx="2842174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FEFF"/>
                </a:solidFill>
                <a:latin typeface="Arial"/>
                <a:ea typeface="Arial"/>
                <a:cs typeface="Arial"/>
                <a:sym typeface="Arial"/>
              </a:rPr>
              <a:t>28/29 MAGGIO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33500" y="3822382"/>
            <a:ext cx="147161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9712"/>
              <a:buFont typeface="Arial"/>
              <a:buNone/>
            </a:pPr>
            <a:r>
              <a:rPr i="1" lang="en-US" sz="9713">
                <a:solidFill>
                  <a:srgbClr val="9AA8B6"/>
                </a:solidFill>
              </a:rPr>
              <a:t>ApiPilot</a:t>
            </a:r>
            <a:endParaRPr b="0" i="0" sz="9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33500" y="5445443"/>
            <a:ext cx="127539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775"/>
              <a:buFont typeface="Arial"/>
              <a:buNone/>
            </a:pPr>
            <a:r>
              <a:rPr i="1" lang="en-US" sz="2775">
                <a:solidFill>
                  <a:srgbClr val="9AA8B6"/>
                </a:solidFill>
              </a:rPr>
              <a:t>Il progetto FE dei tuoi sogni </a:t>
            </a:r>
            <a:r>
              <a:rPr i="1" lang="en-US" sz="2775">
                <a:solidFill>
                  <a:srgbClr val="9AA8B6"/>
                </a:solidFill>
              </a:rPr>
              <a:t>è già scritto - ma ancora non lo sai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33500" y="7816215"/>
            <a:ext cx="620448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33500" y="8277225"/>
            <a:ext cx="620448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775"/>
              <a:buFont typeface="Arial"/>
              <a:buNone/>
            </a:pPr>
            <a:r>
              <a:rPr i="1" lang="en-US" sz="2775">
                <a:solidFill>
                  <a:srgbClr val="9AA8B6"/>
                </a:solidFill>
              </a:rPr>
              <a:t>Api</a:t>
            </a:r>
            <a:r>
              <a:rPr b="0" i="1" lang="en-US" sz="2775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775">
                <a:solidFill>
                  <a:srgbClr val="9AA8B6"/>
                </a:solidFill>
              </a:rPr>
              <a:t>Generator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33500" y="8943975"/>
            <a:ext cx="88362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081"/>
              <a:buFont typeface="Arial"/>
              <a:buNone/>
            </a:pPr>
            <a:r>
              <a:rPr i="1" lang="en-US" sz="2081">
                <a:solidFill>
                  <a:srgbClr val="9AA8B6"/>
                </a:solidFill>
              </a:rPr>
              <a:t>Gaetano Cultrera</a:t>
            </a:r>
            <a:r>
              <a:rPr b="0" i="1" lang="en-US" sz="2081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i="1" lang="en-US" sz="2081">
                <a:solidFill>
                  <a:srgbClr val="9AA8B6"/>
                </a:solidFill>
              </a:rPr>
              <a:t>Luigi Fassari</a:t>
            </a:r>
            <a:r>
              <a:rPr b="0" i="1" lang="en-US" sz="2081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i="1" lang="en-US" sz="2081">
                <a:solidFill>
                  <a:srgbClr val="9AA8B6"/>
                </a:solidFill>
              </a:rPr>
              <a:t>Damiano Di Re</a:t>
            </a:r>
            <a:r>
              <a:rPr b="0" i="1" lang="en-US" sz="2081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  · </a:t>
            </a:r>
            <a:r>
              <a:rPr i="1" lang="en-US" sz="2081">
                <a:solidFill>
                  <a:srgbClr val="9AA8B6"/>
                </a:solidFill>
              </a:rPr>
              <a:t>Vito Pittalà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33500" y="9484201"/>
            <a:ext cx="155051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datapizza.tech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6223139" y="9484201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01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E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1333500" y="533400"/>
            <a:ext cx="173847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01 · Il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71" y="430609"/>
            <a:ext cx="1696829" cy="513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1333500" y="1047750"/>
            <a:ext cx="36607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794828" y="1211580"/>
            <a:ext cx="609600" cy="1905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575878" y="1047750"/>
            <a:ext cx="210244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IL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33499" y="1699260"/>
            <a:ext cx="14889639" cy="14646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4995"/>
              <a:buFont typeface="Arial"/>
              <a:buNone/>
            </a:pPr>
            <a:r>
              <a:rPr i="1" lang="en-US" sz="4495">
                <a:solidFill>
                  <a:srgbClr val="5A6A79"/>
                </a:solidFill>
              </a:rPr>
              <a:t>I developer FE sprecano ore a copiare documentazione API frammentata e a tradurla manualmente</a:t>
            </a:r>
            <a:endParaRPr b="0" i="0" sz="44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333500" y="3659188"/>
            <a:ext cx="7677150" cy="2723356"/>
          </a:xfrm>
          <a:prstGeom prst="roundRect">
            <a:avLst>
              <a:gd fmla="val 5596" name="adj"/>
            </a:avLst>
          </a:prstGeom>
          <a:noFill/>
          <a:ln cap="flat" cmpd="sng" w="14275">
            <a:solidFill>
              <a:srgbClr val="D7DCE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90688" y="3978275"/>
            <a:ext cx="717165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CHI LO VIVE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690688" y="4458335"/>
            <a:ext cx="717165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081"/>
              <a:buFont typeface="Arial"/>
              <a:buNone/>
            </a:pPr>
            <a:r>
              <a:rPr i="1" lang="en-US" sz="2081">
                <a:solidFill>
                  <a:srgbClr val="5A6A79"/>
                </a:solidFill>
              </a:rPr>
              <a:t>Sviluppatori FE e Full-stack in team strutturati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277350" y="3659188"/>
            <a:ext cx="7677150" cy="2723356"/>
          </a:xfrm>
          <a:prstGeom prst="roundRect">
            <a:avLst>
              <a:gd fmla="val 5596" name="adj"/>
            </a:avLst>
          </a:prstGeom>
          <a:noFill/>
          <a:ln cap="flat" cmpd="sng" w="14275">
            <a:solidFill>
              <a:srgbClr val="D7DCE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634538" y="3978275"/>
            <a:ext cx="717165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QUANTO COSTA OGGI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634538" y="4458335"/>
            <a:ext cx="717165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081"/>
              <a:buFont typeface="Arial"/>
              <a:buNone/>
            </a:pPr>
            <a:r>
              <a:rPr i="1" lang="en-US" sz="2081">
                <a:solidFill>
                  <a:srgbClr val="5A6A79"/>
                </a:solidFill>
              </a:rPr>
              <a:t>Scrivere interfacce Typescript e chiamate Axios porta via dai 15 ai 30 minuti per un singolo endpoint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33500" y="6649244"/>
            <a:ext cx="7677150" cy="2723356"/>
          </a:xfrm>
          <a:prstGeom prst="roundRect">
            <a:avLst>
              <a:gd fmla="val 5596" name="adj"/>
            </a:avLst>
          </a:prstGeom>
          <a:noFill/>
          <a:ln cap="flat" cmpd="sng" w="14275">
            <a:solidFill>
              <a:srgbClr val="D7DCE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690688" y="6968331"/>
            <a:ext cx="717165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COSA SI FA ADESSO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90688" y="7448391"/>
            <a:ext cx="717165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081"/>
              <a:buFont typeface="Arial"/>
              <a:buNone/>
            </a:pPr>
            <a:r>
              <a:rPr i="1" lang="en-US" sz="2081">
                <a:solidFill>
                  <a:srgbClr val="5A6A79"/>
                </a:solidFill>
              </a:rPr>
              <a:t>Lo sviluppatore legge Swagger/Postman e riscrive i tipi a mano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277350" y="6649244"/>
            <a:ext cx="7677150" cy="2723356"/>
          </a:xfrm>
          <a:prstGeom prst="roundRect">
            <a:avLst>
              <a:gd fmla="val 5596" name="adj"/>
            </a:avLst>
          </a:prstGeom>
          <a:noFill/>
          <a:ln cap="flat" cmpd="sng" w="14275">
            <a:solidFill>
              <a:srgbClr val="C64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634538" y="6968331"/>
            <a:ext cx="7171658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DATO O ESEMPIO CONCRETO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634538" y="7448391"/>
            <a:ext cx="717165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081"/>
              <a:buFont typeface="Arial"/>
              <a:buNone/>
            </a:pPr>
            <a:r>
              <a:rPr i="1" lang="en-US" sz="2081">
                <a:solidFill>
                  <a:srgbClr val="5A6A79"/>
                </a:solidFill>
              </a:rPr>
              <a:t>In prima persona abbiamo visto come l’aggiornamento di un endpoint senza aver aggiornato le interfacce abbia bloccato i test e richiesto tempo di debugging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333500" y="9406890"/>
            <a:ext cx="163671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[Nome team]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6223139" y="9445466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02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E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1333500" y="533400"/>
            <a:ext cx="1895793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02 · La soluzione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333500" y="1047750"/>
            <a:ext cx="41068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839436" y="1211580"/>
            <a:ext cx="609600" cy="1905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620486" y="1047750"/>
            <a:ext cx="2185430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LA SOLUZIONE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33500" y="1699260"/>
            <a:ext cx="16089630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PROPOSTA DI VALORE — IN UNA RIGA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333500" y="2274575"/>
            <a:ext cx="156210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004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5827"/>
              <a:buFont typeface="Arial"/>
              <a:buNone/>
            </a:pPr>
            <a:r>
              <a:rPr i="1" lang="en-US" sz="5828">
                <a:solidFill>
                  <a:srgbClr val="5A6A79"/>
                </a:solidFill>
              </a:rPr>
              <a:t>ApiPilot legge documentazioni testuali o response e genera contratti typescript e file API</a:t>
            </a:r>
            <a:endParaRPr b="0" i="0" sz="58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333500" y="4440238"/>
            <a:ext cx="15621000" cy="9525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333500" y="4906963"/>
            <a:ext cx="16089630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COSA CAMBIA con la vostra soluzione?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752600" y="5520372"/>
            <a:ext cx="1428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[Per l'utente:</a:t>
            </a:r>
            <a:r>
              <a:rPr i="1" lang="en-US" sz="3000">
                <a:solidFill>
                  <a:srgbClr val="5A6A79"/>
                </a:solidFill>
              </a:rPr>
              <a:t> Non deve più scrivere manualmente interfacce mock o chiamate</a:t>
            </a: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.]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752600" y="6358572"/>
            <a:ext cx="1428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[Per il business:</a:t>
            </a:r>
            <a:r>
              <a:rPr i="1" lang="en-US" sz="3000">
                <a:solidFill>
                  <a:srgbClr val="5A6A79"/>
                </a:solidFill>
              </a:rPr>
              <a:t> Ottimizzazione del tempo e dei costi</a:t>
            </a: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752600" y="7196772"/>
            <a:ext cx="14284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[Per il team tecnico:</a:t>
            </a:r>
            <a:r>
              <a:rPr i="1" lang="en-US" sz="3000">
                <a:solidFill>
                  <a:srgbClr val="5A6A79"/>
                </a:solidFill>
              </a:rPr>
              <a:t> Diventa possibile standardizzare l’architettura</a:t>
            </a:r>
            <a:r>
              <a:rPr b="0" i="1" lang="en-US" sz="30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33500" y="9406900"/>
            <a:ext cx="270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5A6A79"/>
                </a:solidFill>
              </a:rPr>
              <a:t>ApiGenerator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6223139" y="9445466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03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71" y="430609"/>
            <a:ext cx="1696829" cy="51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E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1333500" y="533400"/>
            <a:ext cx="1781016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03 · Architettura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333500" y="1047750"/>
            <a:ext cx="418465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847215" y="1211580"/>
            <a:ext cx="609600" cy="1905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628265" y="1047750"/>
            <a:ext cx="5176033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ARCHITETTURA DELLA SOLUZIONE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333500" y="1699260"/>
            <a:ext cx="13735050" cy="592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3988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Come è fatto il sistema, in un'immagine.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1398886" y="2787332"/>
            <a:ext cx="5555615" cy="1448753"/>
          </a:xfrm>
          <a:prstGeom prst="roundRect">
            <a:avLst>
              <a:gd fmla="val 10519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741786" y="3092132"/>
            <a:ext cx="501590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AGENTI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741786" y="3572192"/>
            <a:ext cx="5015909" cy="397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3"/>
              <a:buFont typeface="Arial"/>
              <a:buNone/>
            </a:pPr>
            <a:r>
              <a:rPr i="1" lang="en-US" sz="1804">
                <a:solidFill>
                  <a:srgbClr val="5A6A79"/>
                </a:solidFill>
              </a:rPr>
              <a:t>Un singolo orchestratore che analizza l’input e chiama i tool man mano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398886" y="4426585"/>
            <a:ext cx="5555615" cy="1448752"/>
          </a:xfrm>
          <a:prstGeom prst="roundRect">
            <a:avLst>
              <a:gd fmla="val 10519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741786" y="4731385"/>
            <a:ext cx="501590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TOOL INTEGRATI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741786" y="5211445"/>
            <a:ext cx="5015909" cy="397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3"/>
              <a:buFont typeface="Arial"/>
              <a:buNone/>
            </a:pPr>
            <a:r>
              <a:rPr i="1" lang="en-US" sz="1804">
                <a:solidFill>
                  <a:srgbClr val="5A6A79"/>
                </a:solidFill>
              </a:rPr>
              <a:t>map_api_rest generate_ts_api create_file_ts_api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398886" y="6065837"/>
            <a:ext cx="5555615" cy="1448753"/>
          </a:xfrm>
          <a:prstGeom prst="roundRect">
            <a:avLst>
              <a:gd fmla="val 10519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1741786" y="6370637"/>
            <a:ext cx="501590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MEMORY &amp; TRACING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1741786" y="6850698"/>
            <a:ext cx="5015909" cy="397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3"/>
              <a:buFont typeface="Arial"/>
              <a:buNone/>
            </a:pPr>
            <a:r>
              <a:rPr i="1" lang="en-US" sz="1804">
                <a:solidFill>
                  <a:srgbClr val="5A6A79"/>
                </a:solidFill>
              </a:rPr>
              <a:t>Caching Livello UI Observability Decorators Log su file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398886" y="7705090"/>
            <a:ext cx="5555615" cy="1448753"/>
          </a:xfrm>
          <a:prstGeom prst="roundRect">
            <a:avLst>
              <a:gd fmla="val 10519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1741786" y="8009890"/>
            <a:ext cx="5015909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TRADE-OFF PRINCIPALE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1741786" y="8489950"/>
            <a:ext cx="5015909" cy="397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3"/>
              <a:buFont typeface="Arial"/>
              <a:buNone/>
            </a:pPr>
            <a:r>
              <a:rPr i="1" lang="en-US" sz="1804">
                <a:solidFill>
                  <a:srgbClr val="5A6A79"/>
                </a:solidFill>
              </a:rPr>
              <a:t>Abbiamo scelto di limitare la libertà creativa dell’agente obbligandolo a seguire un template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333500" y="9406890"/>
            <a:ext cx="163671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6223139" y="9445466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04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71" y="430609"/>
            <a:ext cx="1696829" cy="51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E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1333500" y="533400"/>
            <a:ext cx="2094865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06 · Prossimi passi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333500" y="1047750"/>
            <a:ext cx="425767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854517" y="1211580"/>
            <a:ext cx="609600" cy="1905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635568" y="1047750"/>
            <a:ext cx="266033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PROSSIMI PASSI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333500" y="1699260"/>
            <a:ext cx="14716125" cy="592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3988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Da qui a un prodotto reale.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333500" y="2787332"/>
            <a:ext cx="3733800" cy="6124258"/>
          </a:xfrm>
          <a:prstGeom prst="roundRect">
            <a:avLst>
              <a:gd fmla="val 4082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638300" y="3130232"/>
            <a:ext cx="321792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SETTIMANA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638300" y="3648392"/>
            <a:ext cx="321792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100"/>
              <a:buFont typeface="Arial"/>
              <a:buNone/>
            </a:pPr>
            <a:r>
              <a:rPr i="1" lang="en-US" sz="2100">
                <a:solidFill>
                  <a:srgbClr val="5A6A79"/>
                </a:solidFill>
              </a:rPr>
              <a:t>UI</a:t>
            </a:r>
            <a:endParaRPr i="1" sz="2100">
              <a:solidFill>
                <a:srgbClr val="5A6A79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2100"/>
              <a:buFont typeface="Arial"/>
              <a:buNone/>
            </a:pPr>
            <a:r>
              <a:rPr i="1" lang="en-US" sz="2100">
                <a:solidFill>
                  <a:srgbClr val="5A6A79"/>
                </a:solidFill>
              </a:rPr>
              <a:t>Migliorare i tool</a:t>
            </a:r>
            <a:endParaRPr i="1" sz="2100">
              <a:solidFill>
                <a:srgbClr val="5A6A79"/>
              </a:solidFill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638300" y="4486592"/>
            <a:ext cx="321792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t/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295900" y="2787332"/>
            <a:ext cx="3733800" cy="6124258"/>
          </a:xfrm>
          <a:prstGeom prst="roundRect">
            <a:avLst>
              <a:gd fmla="val 4082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600700" y="3130232"/>
            <a:ext cx="321792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MESE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553838" y="3636492"/>
            <a:ext cx="3217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3–5 colloqui, test sul caso reale, prime metriche.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258300" y="2787332"/>
            <a:ext cx="3733800" cy="6124258"/>
          </a:xfrm>
          <a:prstGeom prst="roundRect">
            <a:avLst>
              <a:gd fmla="val 4082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563100" y="3130232"/>
            <a:ext cx="321792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TRIMESTRE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563100" y="3648392"/>
            <a:ext cx="321792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942"/>
              <a:buFont typeface="Arial"/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516300" y="3636501"/>
            <a:ext cx="32178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Deploy su un team reale, raccolta dati di produzione.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3220700" y="2787332"/>
            <a:ext cx="3733800" cy="6124258"/>
          </a:xfrm>
          <a:prstGeom prst="roundRect">
            <a:avLst>
              <a:gd fmla="val 4082" name="adj"/>
            </a:avLst>
          </a:prstGeom>
          <a:solidFill>
            <a:srgbClr val="0D1F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3525500" y="3130232"/>
            <a:ext cx="321792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A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8A7C"/>
                </a:solidFill>
                <a:latin typeface="Arial"/>
                <a:ea typeface="Arial"/>
                <a:cs typeface="Arial"/>
                <a:sym typeface="Arial"/>
              </a:rPr>
              <a:t>OLTRE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3525500" y="3648392"/>
            <a:ext cx="321792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942"/>
              <a:buFont typeface="Arial"/>
              <a:buNone/>
            </a:pPr>
            <a:r>
              <a:rPr i="1" lang="en-US" sz="1943">
                <a:solidFill>
                  <a:srgbClr val="9AA8B6"/>
                </a:solidFill>
              </a:rPr>
              <a:t>Non esiste limite!</a:t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3525500" y="4153217"/>
            <a:ext cx="321792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Dove può arrivare il prodotto in un anno.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333500" y="8568690"/>
            <a:ext cx="15621000" cy="803910"/>
          </a:xfrm>
          <a:prstGeom prst="roundRect">
            <a:avLst>
              <a:gd fmla="val 14218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638300" y="8797290"/>
            <a:ext cx="201088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1" i="0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COSA CI SERVE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801586" y="8804910"/>
            <a:ext cx="11000794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[Risorse, accessi, dati o decisioni che sblocchereste subito se la giuria potesse darvene una.]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333500" y="9406890"/>
            <a:ext cx="163671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[Nome team]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6223139" y="9445466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07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71" y="430609"/>
            <a:ext cx="1696829" cy="51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DFE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1333500" y="533400"/>
            <a:ext cx="2090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05 ·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333500" y="1047750"/>
            <a:ext cx="42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57534" y="1211580"/>
            <a:ext cx="609600" cy="1920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638584" y="1047750"/>
            <a:ext cx="24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433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333500" y="1699260"/>
            <a:ext cx="147162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3988"/>
              </a:lnSpc>
              <a:spcBef>
                <a:spcPts val="0"/>
              </a:spcBef>
              <a:spcAft>
                <a:spcPts val="0"/>
              </a:spcAft>
              <a:buClr>
                <a:srgbClr val="0D1F2E"/>
              </a:buClr>
              <a:buSzPts val="3884"/>
              <a:buFont typeface="Arial"/>
              <a:buNone/>
            </a:pPr>
            <a:r>
              <a:rPr b="1" i="0" lang="en-US" sz="3885" u="none" cap="none" strike="noStrike">
                <a:solidFill>
                  <a:srgbClr val="0D1F2E"/>
                </a:solidFill>
                <a:latin typeface="Arial"/>
                <a:ea typeface="Arial"/>
                <a:cs typeface="Arial"/>
                <a:sym typeface="Arial"/>
              </a:rPr>
              <a:t>Chi paga, chi risparmia, quanto.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333500" y="2787332"/>
            <a:ext cx="5029200" cy="6050100"/>
          </a:xfrm>
          <a:prstGeom prst="roundRect">
            <a:avLst>
              <a:gd fmla="val 3788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714500" y="3206432"/>
            <a:ext cx="439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CHI PAGA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714500" y="3724592"/>
            <a:ext cx="4395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4320"/>
              <a:buFont typeface="Arial"/>
              <a:buNone/>
            </a:pPr>
            <a:r>
              <a:rPr b="0" i="1" lang="en-US" sz="432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[Ruolo / azienda]</a:t>
            </a:r>
            <a:endParaRPr b="0" i="0" sz="4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714500" y="4764723"/>
            <a:ext cx="43953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Il committente reale. Non "tutti" — uno specifico.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629400" y="2787332"/>
            <a:ext cx="5029200" cy="6050100"/>
          </a:xfrm>
          <a:prstGeom prst="roundRect">
            <a:avLst>
              <a:gd fmla="val 3788" name="adj"/>
            </a:avLst>
          </a:prstGeom>
          <a:solidFill>
            <a:srgbClr val="0D1F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010400" y="3206432"/>
            <a:ext cx="439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QUANTO RISPARMIA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010400" y="3724592"/>
            <a:ext cx="4395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4320"/>
              <a:buFont typeface="Arial"/>
              <a:buNone/>
            </a:pPr>
            <a:r>
              <a:rPr b="0" i="1" lang="en-US" sz="432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[€ / h / %]</a:t>
            </a:r>
            <a:endParaRPr b="0" i="0" sz="4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010400" y="4764723"/>
            <a:ext cx="43953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La metrica chiave. Approssimativa va bene.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1925300" y="2787332"/>
            <a:ext cx="5029200" cy="6050100"/>
          </a:xfrm>
          <a:prstGeom prst="roundRect">
            <a:avLst>
              <a:gd fmla="val 3788" name="adj"/>
            </a:avLst>
          </a:prstGeom>
          <a:solidFill>
            <a:srgbClr val="ECEF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306300" y="3206432"/>
            <a:ext cx="439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QUANTO COSTA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2306300" y="3724592"/>
            <a:ext cx="4395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4320"/>
              <a:buFont typeface="Arial"/>
              <a:buNone/>
            </a:pPr>
            <a:r>
              <a:rPr b="0" i="1" lang="en-US" sz="432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[€ / mese]</a:t>
            </a:r>
            <a:endParaRPr b="0" i="0" sz="4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306300" y="4764723"/>
            <a:ext cx="43953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Costo del sistema: API, infrastruttura, manutenzione.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333500" y="8303895"/>
            <a:ext cx="15621000" cy="960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333500" y="8825545"/>
            <a:ext cx="720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MODELLO DI ADOZIONE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333500" y="9248455"/>
            <a:ext cx="7205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[Come arriva all'utente: prodotto interno, SaaS, integrazione.]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862378" y="8825545"/>
            <a:ext cx="550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MERCATO TARGET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862391" y="9248468"/>
            <a:ext cx="5501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665"/>
              <a:buFont typeface="Arial"/>
              <a:buNone/>
            </a:pPr>
            <a:r>
              <a:rPr b="0" i="1" lang="en-US" sz="1665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[Quanti utenti / aziende. Stima approssimata.]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333500" y="9614215"/>
            <a:ext cx="1636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[Nome team]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6223139" y="9445466"/>
            <a:ext cx="807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A6A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79"/>
                </a:solidFill>
                <a:latin typeface="Arial"/>
                <a:ea typeface="Arial"/>
                <a:cs typeface="Arial"/>
                <a:sym typeface="Arial"/>
              </a:rPr>
              <a:t>06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7671" y="430609"/>
            <a:ext cx="1696831" cy="51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2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12573000" y="495300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1333500" y="533400"/>
            <a:ext cx="57261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333500" y="3013234"/>
            <a:ext cx="402431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FE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831181" y="3177064"/>
            <a:ext cx="609600" cy="19050"/>
          </a:xfrm>
          <a:prstGeom prst="rect">
            <a:avLst/>
          </a:prstGeom>
          <a:solidFill>
            <a:srgbClr val="C643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612231" y="3013234"/>
            <a:ext cx="143430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FEFF"/>
                </a:solidFill>
                <a:latin typeface="Arial"/>
                <a:ea typeface="Arial"/>
                <a:cs typeface="Arial"/>
                <a:sym typeface="Arial"/>
              </a:rPr>
              <a:t>DOMANDE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333500" y="3740944"/>
            <a:ext cx="14716125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DFEFF"/>
              </a:buClr>
              <a:buSzPts val="9712"/>
              <a:buFont typeface="Arial"/>
              <a:buNone/>
            </a:pPr>
            <a:r>
              <a:rPr b="1" i="0" lang="en-US" sz="9713" u="none" cap="none" strike="noStrike">
                <a:solidFill>
                  <a:srgbClr val="FDFEFF"/>
                </a:solidFill>
                <a:latin typeface="Arial"/>
                <a:ea typeface="Arial"/>
                <a:cs typeface="Arial"/>
                <a:sym typeface="Arial"/>
              </a:rPr>
              <a:t>Grazie. </a:t>
            </a:r>
            <a:r>
              <a:rPr b="1" i="0" lang="en-US" sz="12141" u="none" cap="none" strike="noStrike">
                <a:solidFill>
                  <a:srgbClr val="C64336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endParaRPr b="0" i="0" sz="9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333500" y="5722144"/>
            <a:ext cx="127539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775"/>
              <a:buFont typeface="Arial"/>
              <a:buNone/>
            </a:pPr>
            <a:r>
              <a:rPr b="0" i="0" lang="en-US" sz="2775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Sette minuti per le vostre domande scomode.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333500" y="8163877"/>
            <a:ext cx="15621000" cy="9525"/>
          </a:xfrm>
          <a:prstGeom prst="rect">
            <a:avLst/>
          </a:prstGeom>
          <a:solidFill>
            <a:srgbClr val="1E30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33500" y="8516302"/>
            <a:ext cx="512775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33500" y="8958263"/>
            <a:ext cx="5127752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081"/>
              <a:buFont typeface="Arial"/>
              <a:buNone/>
            </a:pPr>
            <a:r>
              <a:rPr b="0" i="1" lang="en-US" sz="2081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[Nome team]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654800" y="8516302"/>
            <a:ext cx="512775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CONTATTO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654800" y="8958263"/>
            <a:ext cx="5127752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2081"/>
              <a:buFont typeface="Arial"/>
              <a:buNone/>
            </a:pPr>
            <a:r>
              <a:rPr b="0" i="1" lang="en-US" sz="2081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[email · responsabile team]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976100" y="8516302"/>
            <a:ext cx="5127752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976100" y="8958263"/>
            <a:ext cx="5127752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665"/>
              <a:buFont typeface="Courier New"/>
              <a:buNone/>
            </a:pPr>
            <a:r>
              <a:rPr b="0" i="1" lang="en-US" sz="1665" u="none" cap="none" strike="noStrike">
                <a:solidFill>
                  <a:srgbClr val="9AA8B6"/>
                </a:solidFill>
                <a:latin typeface="Courier New"/>
                <a:ea typeface="Courier New"/>
                <a:cs typeface="Courier New"/>
                <a:sym typeface="Courier New"/>
              </a:rPr>
              <a:t>[github.com/…]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33500" y="9484201"/>
            <a:ext cx="4215843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datapizza.tech · Ideathon 28/29.05.2026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6223139" y="9484201"/>
            <a:ext cx="807561" cy="3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A8B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AA8B6"/>
                </a:solidFill>
                <a:latin typeface="Arial"/>
                <a:ea typeface="Arial"/>
                <a:cs typeface="Arial"/>
                <a:sym typeface="Arial"/>
              </a:rPr>
              <a:t>08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7089" y="385146"/>
            <a:ext cx="1888923" cy="57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2026-05-18T14:14:11Z</dcterms:created>
  <dc:creator>PptxGenJS</dc:creator>
</cp:coreProperties>
</file>